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3474720"/>
          </a:xfrm>
          <a:prstGeom prst="rect">
            <a:avLst/>
          </a:prstGeom>
          <a:solidFill>
            <a:srgbClr val="FF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CFCFC"/>
                </a:solidFill>
              </a:rPr>
              <a:t>Construct a Creative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348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Creative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F4E00"/>
                </a:solidFill>
              </a:rPr>
              <a:t>Activity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93192"/>
            <a:ext cx="5486400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4937760"/>
            <a:ext cx="2606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4E00"/>
                </a:solidFill>
              </a:rPr>
              <a:t>01  </a:t>
            </a:r>
            <a:r>
              <a:rPr sz="1800" b="0">
                <a:solidFill>
                  <a:srgbClr val="161616"/>
                </a:solidFill>
              </a:rPr>
              <a:t>What is this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4992" y="4937760"/>
            <a:ext cx="2606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4E00"/>
                </a:solidFill>
              </a:rPr>
              <a:t>02  </a:t>
            </a:r>
            <a:r>
              <a:rPr sz="1800" b="0">
                <a:solidFill>
                  <a:srgbClr val="161616"/>
                </a:solidFill>
              </a:rPr>
              <a:t>How to do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5352" y="4937760"/>
            <a:ext cx="2606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4E00"/>
                </a:solidFill>
              </a:rPr>
              <a:t>03  </a:t>
            </a:r>
            <a:r>
              <a:rPr sz="1800" b="0">
                <a:solidFill>
                  <a:srgbClr val="161616"/>
                </a:solidFill>
              </a:rPr>
              <a:t>Tips for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1432" y="4937760"/>
            <a:ext cx="2606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4E00"/>
                </a:solidFill>
              </a:rPr>
              <a:t>04  </a:t>
            </a:r>
            <a:r>
              <a:rPr sz="1800" b="0">
                <a:solidFill>
                  <a:srgbClr val="161616"/>
                </a:solidFill>
              </a:rPr>
              <a:t>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93192"/>
            <a:ext cx="5486400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What is this activity?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37160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1616"/>
                </a:solidFill>
              </a:rPr>
              <a:t>DESIGN THE MATRIX THAT GENERATES IDEAS WORTH ACTING 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Creative Matrix generates ideas by forcing unlikely combinations — pairing specific challenges against categories of activators to produce ideas that wouldn't emerge from open brainstorming. The quality of your matrix determines the quality of your ideas: the right columns and the right enablers produce output that is grounded in real insights and surprising enough to be useful.
This guide walks you through constructing a matrix that is ready to run in person, on a shared whiteboard, or as a self-advancing PowerPoint deck.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1616"/>
                </a:solidFill>
              </a:rPr>
              <a:t>WHAT YOU WILL NEED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·  Your topic or challenge — a clear overarching problem or opportunity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·  Upstream work — research notes, insights, personas, or a journey map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·  Access to an AI tool (Claude, ChatGPT, or Copilot) for optional assistance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·  At least 30 minutes to work through all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93192"/>
            <a:ext cx="5486400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How to do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46304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FF4E00"/>
                </a:solidFill>
              </a:rPr>
              <a:t>Step 1:  </a:t>
            </a:r>
            <a:r>
              <a:rPr sz="2000" b="0">
                <a:solidFill>
                  <a:srgbClr val="161616"/>
                </a:solidFill>
              </a:rPr>
              <a:t>Define your challenge</a:t>
            </a:r>
            <a:r>
              <a:rPr sz="1600">
                <a:solidFill>
                  <a:srgbClr val="7A7A7A"/>
                </a:solidFill>
              </a:rPr>
              <a:t>  (5 min)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FF4E00"/>
                </a:solidFill>
              </a:rPr>
              <a:t>Step 2:  </a:t>
            </a:r>
            <a:r>
              <a:rPr sz="2000" b="0">
                <a:solidFill>
                  <a:srgbClr val="161616"/>
                </a:solidFill>
              </a:rPr>
              <a:t>Build your columns</a:t>
            </a:r>
            <a:r>
              <a:rPr sz="1600">
                <a:solidFill>
                  <a:srgbClr val="7A7A7A"/>
                </a:solidFill>
              </a:rPr>
              <a:t>  (15 min)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FF4E00"/>
                </a:solidFill>
              </a:rPr>
              <a:t>Step 3:  </a:t>
            </a:r>
            <a:r>
              <a:rPr sz="2000" b="0">
                <a:solidFill>
                  <a:srgbClr val="161616"/>
                </a:solidFill>
              </a:rPr>
              <a:t>Select your enablers</a:t>
            </a:r>
            <a:r>
              <a:rPr sz="1600">
                <a:solidFill>
                  <a:srgbClr val="7A7A7A"/>
                </a:solidFill>
              </a:rPr>
              <a:t>  (10 min)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FF4E00"/>
                </a:solidFill>
              </a:rPr>
              <a:t>Step 4:  </a:t>
            </a:r>
            <a:r>
              <a:rPr sz="2000" b="0">
                <a:solidFill>
                  <a:srgbClr val="161616"/>
                </a:solidFill>
              </a:rPr>
              <a:t>Add think-about prompts</a:t>
            </a:r>
            <a:r>
              <a:rPr sz="1600">
                <a:solidFill>
                  <a:srgbClr val="7A7A7A"/>
                </a:solidFill>
              </a:rPr>
              <a:t>  (10 min)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FF4E00"/>
                </a:solidFill>
              </a:rPr>
              <a:t>Step 5:  </a:t>
            </a:r>
            <a:r>
              <a:rPr sz="2000" b="0">
                <a:solidFill>
                  <a:srgbClr val="161616"/>
                </a:solidFill>
              </a:rPr>
              <a:t>Choose your delivery format</a:t>
            </a:r>
            <a:r>
              <a:rPr sz="1600">
                <a:solidFill>
                  <a:srgbClr val="7A7A7A"/>
                </a:solidFill>
              </a:rPr>
              <a:t>  (5 min)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19456"/>
            <a:ext cx="4946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4E00"/>
                </a:solidFill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94360"/>
            <a:ext cx="48737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1616"/>
                </a:solidFill>
              </a:rPr>
              <a:t>Define your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920240"/>
            <a:ext cx="4873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Write your topic at the top — a clear phrase naming the problem or opportunity you're exploring (e.g. 'Improving first-year employee onboarding' or 'Driving adoption of our analytics platform')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Below it, write your overarching challenge — the broadest How Might We statement this session will address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Be specific: vague topics produce generic ideas; a sharply framed challenge produces ideas you can act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59070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</a:rPr>
              <a:t>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4576" y="219456"/>
            <a:ext cx="4946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7A7A7A"/>
                </a:solidFill>
              </a:rPr>
              <a:t>YOUR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4576" y="548640"/>
            <a:ext cx="4754880" cy="598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OVERARCHING TOPIC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[Write your topic here]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──────────────────────────────────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OVERARCHING CHALLENGE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How might we...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[Write your challenge statement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19456"/>
            <a:ext cx="4946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4E00"/>
                </a:solidFill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94360"/>
            <a:ext cx="48737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1616"/>
                </a:solidFill>
              </a:rPr>
              <a:t>Build your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920240"/>
            <a:ext cx="4873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Choose your column type based on the upstream work you have: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   · How Might We statements — use when you have research insights or strategic priorities to turn into opportunity prompts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   · Customer segments or stakeholder roles — use when distinct groups need meaningfully different ideas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   · Experience stages — use when you're designing a service or journey (default: Entice, Enter, Engage, Exit, Extend)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Generate four column headings of your chosen type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Use the A.I. prompt on the right if you have research notes or context to feed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59070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</a:rPr>
              <a:t>15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4576" y="219456"/>
            <a:ext cx="4946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4E00"/>
                </a:solidFill>
              </a:rPr>
              <a:t>A.I.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502920"/>
            <a:ext cx="5029200" cy="6080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94576" y="548640"/>
            <a:ext cx="4754880" cy="598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I'm constructing a Creative Matrix for the following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challenge: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Topic: [INSERT YOUR TOPIC]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Context: [DESCRIBE YOUR ORGANISATION AND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AUDIENCE — e.g. 'a hospital improving patient intake'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or 'a tech company improving tool adoption']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Upstream work: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[PASTE RESEARCH NOTES, INSIGHT THEMES, AFFINITY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CLUSTERS, STAKEHOLDER MAP, OR JOURNEY MAP]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Please: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1. Recommend the best column type (HMW statements,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   customer segments, or experience stages) and explain why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2. Generate four column headings of that type, grounded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   in the upstream work I've provided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19456"/>
            <a:ext cx="4946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4E00"/>
                </a:solidFill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94360"/>
            <a:ext cx="48737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1616"/>
                </a:solidFill>
              </a:rPr>
              <a:t>Select your enablers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920240"/>
            <a:ext cx="4873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Start with the default four enablers: Technology &amp; Digital Media, Games &amp; Competitions, People &amp; Partnerships, Events &amp; Programs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Adjust for context — add something currently relevant (AI, a key platform, a strategic priority) or swap in experience-specific enablers if your columns are journey stages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Choose enablers that feel slightly uncomfortable — tension between column and enabler produces surprising ideas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The bottom row is always Wild Card — leave it open for ideas that don't fit a named enabler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Use the A.I. prompt on the right to get context-specific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59070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</a:rPr>
              <a:t>10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4576" y="219456"/>
            <a:ext cx="4946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4E00"/>
                </a:solidFill>
              </a:rPr>
              <a:t>A.I.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502920"/>
            <a:ext cx="5029200" cy="6080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94576" y="548640"/>
            <a:ext cx="4754880" cy="598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I'm building a Creative Matrix on the following topic: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Topic: [INSERT TOPIC]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Columns: [LIST YOUR FOUR COLUMN HEADINGS]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Context: [DESCRIBE YOUR ORGANISATION AND AUDIENCE]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Please: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1. Recommend four enablers that will create the most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   productive tension with these columns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2. For each enabler, provide 4–6 sub-bullet 'think about'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   prompts — specific examples within that category that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   would spark ideas given this particular context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3. Briefly explain why each enabler creates useful tension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484848"/>
                </a:solidFill>
              </a:rPr>
              <a:t>   for this topic and challenge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19456"/>
            <a:ext cx="4946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4E00"/>
                </a:solidFill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94360"/>
            <a:ext cx="48737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1616"/>
                </a:solidFill>
              </a:rPr>
              <a:t>Add think-about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920240"/>
            <a:ext cx="4873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Under each enabler heading, list 4–6 specific sub-examples within that category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These are the 'think about' prompts that help people ideate when they get stuck — 'Technology &amp; Digital Media' is abstract; 'wearables, social media, generative AI, embedded sensors' gives people something to grab onto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Make the prompts specific to your topic — generic sub-bullets produce generic ideas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If you used the A.I. prompt in Step 3, your sub-bullets are already populated — review and refine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59070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</a:rPr>
              <a:t>10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4576" y="219456"/>
            <a:ext cx="4946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7A7A7A"/>
                </a:solidFill>
              </a:rPr>
              <a:t>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4576" y="548640"/>
            <a:ext cx="4754880" cy="598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EXAMPLE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Enabler: Games &amp; Competitions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Think about: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  · Motivations and what drives behaviour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  · Rewards, badges, points, prizes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  · Scoring and leaderboards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  · Teamwork and cooperative challenges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  · Peer competition and accountability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──────────────────────────────────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Now write sub-bullets for each of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your four enablers in the same format.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19456"/>
            <a:ext cx="4946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4E00"/>
                </a:solidFill>
              </a:rP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94360"/>
            <a:ext cx="4873752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1616"/>
                </a:solidFill>
              </a:rPr>
              <a:t>Choose your delivery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920240"/>
            <a:ext cx="4873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Your completed matrix can be run in three ways — choose based on your team's setup: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   · Physical wall: print and mount the grid; use index cards for column and row headers; participants use sticky notes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   · Miro or Mural: pre-build the grid on a shared board; participants add digital sticky notes simultaneously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   · Auto-advance PowerPoint deck: build the 16-slide session deck using your matrix; participants work individually against slides that advance every minute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For this program, use the auto-advance PowerPoint format — take your completed matrix spec and use the separate Auto-Advance Deck template to build the session-ready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590702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7A7A7A"/>
                </a:solidFill>
              </a:rPr>
              <a:t>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4576" y="219456"/>
            <a:ext cx="49469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7A7A7A"/>
                </a:solidFill>
              </a:rPr>
              <a:t>YOUR MATRIX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4576" y="548640"/>
            <a:ext cx="4754880" cy="598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YOUR COMPLETED MATRIX SPEC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Topic: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[Your topic]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Overarching challenge: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[Your HMW statement]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Column 1:  [Heading]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Column 2:  [Heading]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Column 3:  [Heading]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Column 4:  [Heading]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/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Enabler 1:  [Name + sub-bullets]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Enabler 2:  [Name + sub-bullets]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Enabler 3:  [Name + sub-bullets]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00" b="0">
                <a:solidFill>
                  <a:srgbClr val="484848"/>
                </a:solidFill>
              </a:rPr>
              <a:t>Enabler 4:  [Name + sub-bullets]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93192"/>
            <a:ext cx="5486400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Tips for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9728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Define your challenge sharply before building the matrix — a vague topic produces generic ideas; a specific challenge produces ideas you can act on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Choose your column type based on your upstream work, not habit — if you have research insights, use HMW statements; if you have distinct stakeholder groups, use segments; if you're designing a journey, use experience stages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Pick enablers that make you slightly uncomfortable — the tension is productive; obvious enablers produce obvious ideas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Populate the sub-bullets before the session — four to six specific examples per enabler make the difference between participants who get stuck and participants who fill the grid in eight minutes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The bottom row is always Wild Card — don't skip it; good ideas that don't fit named enablers need somewhere to go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484848"/>
                </a:solidFill>
              </a:rPr>
              <a:t>·  If you don't have upstream research, use AI to generate column headings from your topic — then treat those as hypotheses to validate with real people before investing in them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393192"/>
            <a:ext cx="5486400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Common pitfalls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9728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 b="0">
                <a:solidFill>
                  <a:srgbClr val="161616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C0000"/>
                </a:solidFill>
              </a:rPr>
              <a:t>❌  </a:t>
            </a:r>
            <a:r>
              <a:rPr sz="1400">
                <a:solidFill>
                  <a:srgbClr val="484848"/>
                </a:solidFill>
              </a:rPr>
              <a:t>Column headings that are all variations of the same thing ('improve the experience', 'improve the service', 'improve the product')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8000"/>
                </a:solidFill>
              </a:rPr>
              <a:t>✅  </a:t>
            </a:r>
            <a:r>
              <a:rPr sz="1400">
                <a:solidFill>
                  <a:srgbClr val="484848"/>
                </a:solidFill>
              </a:rPr>
              <a:t>Make each column distinct — different dimensions of the challenge, not rephrasing of one idea. If columns blend together, the matrix produces redundant ideas.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C0000"/>
                </a:solidFill>
              </a:rPr>
              <a:t>❌  </a:t>
            </a:r>
            <a:r>
              <a:rPr sz="1400">
                <a:solidFill>
                  <a:srgbClr val="484848"/>
                </a:solidFill>
              </a:rPr>
              <a:t>Enablers that are too safe or familiar (e.g. 'email', 'meetings', 'training sessions')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8000"/>
                </a:solidFill>
              </a:rPr>
              <a:t>✅  </a:t>
            </a:r>
            <a:r>
              <a:rPr sz="1400">
                <a:solidFill>
                  <a:srgbClr val="484848"/>
                </a:solidFill>
              </a:rPr>
              <a:t>Choose enablers that push the team somewhere they wouldn't naturally go — if the enabler feels obvious, replace it with something that creates productive discomfort.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C0000"/>
                </a:solidFill>
              </a:rPr>
              <a:t>❌  </a:t>
            </a:r>
            <a:r>
              <a:rPr sz="1400">
                <a:solidFill>
                  <a:srgbClr val="484848"/>
                </a:solidFill>
              </a:rPr>
              <a:t>Skipping the sub-bullets because the enabler name seems self-explanatory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8000"/>
                </a:solidFill>
              </a:rPr>
              <a:t>✅  </a:t>
            </a:r>
            <a:r>
              <a:rPr sz="1400">
                <a:solidFill>
                  <a:srgbClr val="484848"/>
                </a:solidFill>
              </a:rPr>
              <a:t>Populate 4–6 specific sub-examples per enabler — they do the priming work that makes the sprint fast and generative, especially for participants who aren't natural ideators.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C0000"/>
                </a:solidFill>
              </a:rPr>
              <a:t>❌  </a:t>
            </a:r>
            <a:r>
              <a:rPr sz="1400">
                <a:solidFill>
                  <a:srgbClr val="484848"/>
                </a:solidFill>
              </a:rPr>
              <a:t>Building the matrix during the session while participants wait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8000"/>
                </a:solidFill>
              </a:rPr>
              <a:t>✅  </a:t>
            </a:r>
            <a:r>
              <a:rPr sz="1400">
                <a:solidFill>
                  <a:srgbClr val="484848"/>
                </a:solidFill>
              </a:rPr>
              <a:t>Construct the full matrix — columns, enablers, and sub-bullets — before anyone arrives. Construction is preparation; the session is ideation.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C0000"/>
                </a:solidFill>
              </a:rPr>
              <a:t>❌  </a:t>
            </a:r>
            <a:r>
              <a:rPr sz="1400">
                <a:solidFill>
                  <a:srgbClr val="484848"/>
                </a:solidFill>
              </a:rPr>
              <a:t>Choosing all four default enablers without considering context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008000"/>
                </a:solidFill>
              </a:rPr>
              <a:t>✅  </a:t>
            </a:r>
            <a:r>
              <a:rPr sz="1400">
                <a:solidFill>
                  <a:srgbClr val="484848"/>
                </a:solidFill>
              </a:rPr>
              <a:t>Start with the default four, then ask: is there something currently de rigueur (AI, a key platform, a strategic priority) that belongs here instead? The best enabler sets are tuned to the moment.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377440"/>
            <a:ext cx="95006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CFCFC"/>
                </a:solidFill>
              </a:rPr>
              <a:t>[Program]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3566160"/>
            <a:ext cx="95006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F4E00"/>
                </a:solidFill>
              </a:rPr>
              <a:t>Creative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4114800"/>
            <a:ext cx="9500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7A7A7A"/>
                </a:solidFill>
              </a:rPr>
              <a:t>Examples from other sessions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7A7A7A"/>
                </a:solidFill>
              </a:rPr>
              <a:t>[Example slide 1 — populate with a completed Creative Matrix example]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743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7A7A7A"/>
                </a:solidFill>
              </a:rPr>
              <a:t>[Example slide 2 — populate with a completed Creative Matrix example]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